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7" r:id="rId5"/>
    <p:sldId id="262" r:id="rId6"/>
    <p:sldId id="263" r:id="rId7"/>
    <p:sldId id="264" r:id="rId8"/>
    <p:sldId id="265" r:id="rId9"/>
    <p:sldId id="266" r:id="rId10"/>
    <p:sldId id="259" r:id="rId11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A"/>
    <a:srgbClr val="D4D0C8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8AFA3-8D4B-4FB6-82DF-5B69591E9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46AB27-7D80-4890-9419-AFB07766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1418AA-D88E-4383-B2C5-90C88F16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6F221-C20B-4B20-B3FA-C377BF5E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AAB2C-9388-4D4B-AADC-557A8CD9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8634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C40E3-9B2B-43B8-9FE8-CF32BAAD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68ABE-21D6-42DB-A63A-08673AEA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B69066-FBFA-40A4-A754-7081C2D1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9B3EA4-D3AE-4682-9E1F-48C8CE05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FAEB94-158F-4BFE-BF12-0FEF3F00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6845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F8E5F-67F7-4DBA-BA85-A0AA9F7B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F06BEC-A3C9-4CD0-9C58-F3A4C8B5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3A910E-894E-4342-A4FB-5FB46B92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1308C7-B474-4ACF-9D3C-6D3C39A4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27BE4-AD88-4E2D-9C1F-55F4590A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7425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8D6FD-61ED-48BC-B63B-0AC3C524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083CD-33DA-4925-9A85-F6BCFE98E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4EA9AC-DAD6-41D6-9D9F-CDB159FBC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89617-C42F-43AF-8DD8-4B2D7A24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BECBF5-A217-44EB-B3A2-ABAE1064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D6CAE-D2A8-43B6-B3FF-D4F001F7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8501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888C9-E585-4497-9F41-1BB71D6D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FBF472-4C46-4EA5-96FD-C3AFBAFD2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A0A324-27F5-48CC-A681-E99018230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40A75D-0492-4BD4-9BC9-A0E97AC89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24AC8C-23A2-4C0E-8FC4-C20734F61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AB9322-6140-4792-94DF-038412E6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C2BF2D-C3E1-4852-A31E-A09DAA1B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10A890-B7ED-40BF-8246-71F988CF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6706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FFF01-01BA-44B2-ADCC-05C5CDFE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A033051-F453-4FF2-99D0-8901FED5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654288-A7E2-43B0-A90B-6901C413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208CE2-7A69-4EB0-B71E-A4C22385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5477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E85800-3C1A-4ED9-9DCB-31B17259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D603BA-E5E8-4794-930F-FB8D6281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F4696D-4E51-4A49-86AE-07BD90E0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403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CB3D0-5012-4C42-95ED-2B9F665D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73426F-92B1-4094-8670-10CF14EB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F98FD8-6423-488C-BDC4-C3B60B671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69DAC4-11CF-47A7-9C58-B00DC484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0F0E48-997C-4121-A89D-5E911DB2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422CF2-C2B9-4202-A693-72E37FBE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3908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EE198-79E3-4B37-A9DC-D5646B7D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5F7A5E-53CC-4560-BFED-8B89E33E4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9A88FE-DF76-4F33-93E8-5B4824A1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076A39-1EF5-4CAF-8EC3-38D9B2E8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FFFC55-56DB-4DB2-8DF9-836809CF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F3BE68-18A9-42A6-9A68-8C2065CA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41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5EE55-C264-405B-BAFF-C911A6FA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41074D-ED27-475F-BD1A-DF2083297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6A232-A471-438F-9CE0-84F90ECA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7087F4-6110-4401-8EE5-09AEFB10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F2EBC-3F22-4FFF-8B11-E675AB36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7221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B6DFCB-472F-4830-9E86-6C7D09DE1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621A82-B920-4ECF-A027-48E4B479B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3BD412-A992-4922-B6D3-39DC27BB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9748E9-F8BE-498C-8B43-EC92F192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EFD3E7-7D7D-41E3-8011-83C9D326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032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B716B-1BD7-4DE4-B7FD-9F572E2B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2E2C44-8461-4F7B-9421-E8010E410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B1BC1-1F5C-4A86-B798-BF82C03D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3D2C7-6FDF-44F9-9F47-4A1301A63EA7}" type="datetimeFigureOut">
              <a:rPr lang="ru-UA" smtClean="0"/>
              <a:t>12/17/2025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31E902-977B-4DE4-A346-4CDCF657F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5793A-3469-473B-9264-03AE44F8C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83E24-1F67-4DFB-AFD6-A93E27F7312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2686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A85A64-7E63-4E32-A4D2-2C11299C57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33"/>
          <a:stretch/>
        </p:blipFill>
        <p:spPr>
          <a:xfrm>
            <a:off x="0" y="0"/>
            <a:ext cx="2394284" cy="6841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F69CE-0707-4F04-9DE1-43EF6ECF39E3}"/>
              </a:ext>
            </a:extLst>
          </p:cNvPr>
          <p:cNvSpPr txBox="1"/>
          <p:nvPr/>
        </p:nvSpPr>
        <p:spPr>
          <a:xfrm>
            <a:off x="2916454" y="1193532"/>
            <a:ext cx="828735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D4D0C8"/>
                </a:solidFill>
                <a:latin typeface="Oswald ExtraLight" pitchFamily="2" charset="-52"/>
              </a:rPr>
              <a:t>RAG, </a:t>
            </a:r>
            <a:r>
              <a:rPr lang="ru-RU" sz="6600" dirty="0">
                <a:solidFill>
                  <a:srgbClr val="D4D0C8"/>
                </a:solidFill>
                <a:latin typeface="Oswald ExtraLight" pitchFamily="2" charset="-52"/>
              </a:rPr>
              <a:t>добавляем </a:t>
            </a:r>
            <a:r>
              <a:rPr lang="en-US" sz="6600" dirty="0">
                <a:solidFill>
                  <a:srgbClr val="D4D0C8"/>
                </a:solidFill>
                <a:latin typeface="Oswald ExtraLight" pitchFamily="2" charset="-52"/>
              </a:rPr>
              <a:t>LLM</a:t>
            </a:r>
            <a:endParaRPr lang="ru-RU" sz="6600" dirty="0">
              <a:solidFill>
                <a:srgbClr val="D4D0C8"/>
              </a:solidFill>
              <a:latin typeface="Oswald ExtraLight" pitchFamily="2" charset="-52"/>
            </a:endParaRPr>
          </a:p>
          <a:p>
            <a:r>
              <a:rPr lang="ru-RU" sz="6600" dirty="0">
                <a:solidFill>
                  <a:srgbClr val="D4D0C8"/>
                </a:solidFill>
                <a:latin typeface="Oswald ExtraLight" pitchFamily="2" charset="-52"/>
              </a:rPr>
              <a:t>кастомную базу знаний</a:t>
            </a:r>
          </a:p>
          <a:p>
            <a:r>
              <a:rPr lang="en-US" sz="3200" i="1" dirty="0" err="1">
                <a:solidFill>
                  <a:srgbClr val="D4D0C8"/>
                </a:solidFill>
                <a:latin typeface="Oswald ExtraLight" pitchFamily="2" charset="-52"/>
              </a:rPr>
              <a:t>ellmer</a:t>
            </a:r>
            <a:r>
              <a:rPr lang="en-US" sz="3200" i="1" dirty="0">
                <a:solidFill>
                  <a:srgbClr val="D4D0C8"/>
                </a:solidFill>
                <a:latin typeface="Oswald ExtraLight" pitchFamily="2" charset="-52"/>
              </a:rPr>
              <a:t> + </a:t>
            </a:r>
            <a:r>
              <a:rPr lang="en-US" sz="3200" i="1" dirty="0" err="1">
                <a:solidFill>
                  <a:srgbClr val="D4D0C8"/>
                </a:solidFill>
                <a:latin typeface="Oswald ExtraLight" pitchFamily="2" charset="-52"/>
              </a:rPr>
              <a:t>ragnar</a:t>
            </a:r>
            <a:endParaRPr lang="ru-UA" sz="3200" i="1" dirty="0">
              <a:solidFill>
                <a:srgbClr val="D4D0C8"/>
              </a:solidFill>
              <a:latin typeface="Oswald ExtraLight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18AD9-F7D9-44BC-9927-32708274F079}"/>
              </a:ext>
            </a:extLst>
          </p:cNvPr>
          <p:cNvSpPr txBox="1"/>
          <p:nvPr/>
        </p:nvSpPr>
        <p:spPr>
          <a:xfrm>
            <a:off x="9654139" y="6155356"/>
            <a:ext cx="2424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969696"/>
                </a:solidFill>
                <a:latin typeface="Oswald ExtraLight" pitchFamily="2" charset="-52"/>
              </a:rPr>
              <a:t>Алексей Селезнёв</a:t>
            </a:r>
            <a:endParaRPr lang="ru-UA" sz="2800" dirty="0">
              <a:solidFill>
                <a:srgbClr val="969696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1178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Что такое </a:t>
            </a:r>
            <a:r>
              <a:rPr lang="en-US" dirty="0">
                <a:solidFill>
                  <a:srgbClr val="D4D0C8"/>
                </a:solidFill>
                <a:latin typeface="Oswald" pitchFamily="2" charset="-52"/>
              </a:rPr>
              <a:t>RAG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pic>
        <p:nvPicPr>
          <p:cNvPr id="6" name="Content Placeholder 5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776799DF-402F-14A4-DBAF-6D924F6B4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08" y="1825625"/>
            <a:ext cx="7970966" cy="4351338"/>
          </a:xfrm>
        </p:spPr>
      </p:pic>
    </p:spTree>
    <p:extLst>
      <p:ext uri="{BB962C8B-B14F-4D97-AF65-F5344CB8AC3E}">
        <p14:creationId xmlns:p14="http://schemas.microsoft.com/office/powerpoint/2010/main" val="294561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Обзор рабочего процесса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Обработка документа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Разделение текста на фрагменты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Эмбендинг (векторизация текста)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Запись эмбендингов в хранилище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Поиск и получение из хранилища релевантных фрагментов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Добавление модели инструмент поиска по базе знаний</a:t>
            </a:r>
          </a:p>
        </p:txBody>
      </p:sp>
    </p:spTree>
    <p:extLst>
      <p:ext uri="{BB962C8B-B14F-4D97-AF65-F5344CB8AC3E}">
        <p14:creationId xmlns:p14="http://schemas.microsoft.com/office/powerpoint/2010/main" val="86886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Обзор рабочего процесса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91C34B-0F88-9728-BB3F-07155958D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08" y="1765240"/>
            <a:ext cx="7970966" cy="4351338"/>
          </a:xfrm>
        </p:spPr>
      </p:pic>
    </p:spTree>
    <p:extLst>
      <p:ext uri="{BB962C8B-B14F-4D97-AF65-F5344CB8AC3E}">
        <p14:creationId xmlns:p14="http://schemas.microsoft.com/office/powerpoint/2010/main" val="359420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 Обработка документов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/>
          <a:lstStyle/>
          <a:p>
            <a:r>
              <a:rPr lang="en-GB" b="1" dirty="0" err="1">
                <a:solidFill>
                  <a:srgbClr val="33415A"/>
                </a:solidFill>
                <a:latin typeface="Oswald ExtraLight" pitchFamily="2" charset="-52"/>
              </a:rPr>
              <a:t>read_as_markdown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– Преобразование документа или 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URL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в 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Markdown</a:t>
            </a:r>
          </a:p>
          <a:p>
            <a:pPr lvl="1"/>
            <a:r>
              <a:rPr lang="en-GB" dirty="0" err="1">
                <a:solidFill>
                  <a:srgbClr val="33415A"/>
                </a:solidFill>
                <a:latin typeface="Oswald ExtraLight" pitchFamily="2" charset="-52"/>
              </a:rPr>
              <a:t>html_extract_selectors</a:t>
            </a:r>
            <a:endParaRPr lang="en-GB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dirty="0" err="1">
                <a:solidFill>
                  <a:srgbClr val="33415A"/>
                </a:solidFill>
                <a:latin typeface="Oswald ExtraLight" pitchFamily="2" charset="-52"/>
              </a:rPr>
              <a:t>html_zap_selectors</a:t>
            </a:r>
            <a:endParaRPr lang="en-GB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dirty="0" err="1">
                <a:solidFill>
                  <a:srgbClr val="33415A"/>
                </a:solidFill>
                <a:latin typeface="Oswald ExtraLight" pitchFamily="2" charset="-52"/>
              </a:rPr>
              <a:t>youtube_transcript_formatter</a:t>
            </a:r>
            <a:endParaRPr lang="ru-RU" dirty="0">
              <a:solidFill>
                <a:srgbClr val="33415A"/>
              </a:solidFill>
              <a:latin typeface="Oswald ExtraLight" pitchFamily="2" charset="-52"/>
            </a:endParaRPr>
          </a:p>
          <a:p>
            <a:r>
              <a:rPr lang="en-GB" b="1" dirty="0" err="1">
                <a:solidFill>
                  <a:srgbClr val="33415A"/>
                </a:solidFill>
                <a:latin typeface="Oswald ExtraLight" pitchFamily="2" charset="-52"/>
              </a:rPr>
              <a:t>ragnar_find_links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– Найти все ссылки на веб странице</a:t>
            </a:r>
          </a:p>
        </p:txBody>
      </p:sp>
    </p:spTree>
    <p:extLst>
      <p:ext uri="{BB962C8B-B14F-4D97-AF65-F5344CB8AC3E}">
        <p14:creationId xmlns:p14="http://schemas.microsoft.com/office/powerpoint/2010/main" val="243610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 Разделение текста на фрагменты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>
            <a:normAutofit fontScale="92500" lnSpcReduction="10000"/>
          </a:bodyPr>
          <a:lstStyle/>
          <a:p>
            <a:r>
              <a:rPr lang="en-GB" b="1" dirty="0" err="1">
                <a:solidFill>
                  <a:srgbClr val="33415A"/>
                </a:solidFill>
                <a:latin typeface="Oswald ExtraLight" pitchFamily="2" charset="-52"/>
              </a:rPr>
              <a:t>markdown_chunk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– полноценный инструмент для разделения текста на фрагменты</a:t>
            </a:r>
          </a:p>
          <a:p>
            <a:pPr lvl="1"/>
            <a:r>
              <a:rPr lang="en-US" b="1" dirty="0">
                <a:solidFill>
                  <a:srgbClr val="33415A"/>
                </a:solidFill>
                <a:latin typeface="Oswald ExtraLight" pitchFamily="2" charset="-52"/>
              </a:rPr>
              <a:t>m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d</a:t>
            </a:r>
            <a:r>
              <a:rPr lang="ru-RU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- MarkdownDocument, или вектор символов длиной в один символ, содержащий Markdown.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US" b="1" dirty="0" err="1">
                <a:solidFill>
                  <a:srgbClr val="33415A"/>
                </a:solidFill>
                <a:latin typeface="Oswald ExtraLight" pitchFamily="2" charset="-52"/>
              </a:rPr>
              <a:t>target_size</a:t>
            </a:r>
            <a:r>
              <a:rPr lang="en-US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Целевой размер блока в символах. По умолчанию: 1600 (приблизительно 400 токенов или 1 страница текста). Фактический размер блока может отличаться от целевого значения до 2 * max_snap_dist. Если установлено значение NULL, NA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или Infи используется с segment_by_heading_levels, размер блока неограничен, и каждый блок соответствует сегменту.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US" b="1" dirty="0" err="1">
                <a:solidFill>
                  <a:srgbClr val="33415A"/>
                </a:solidFill>
                <a:latin typeface="Oswald ExtraLight" pitchFamily="2" charset="-52"/>
              </a:rPr>
              <a:t>target_overlap</a:t>
            </a:r>
            <a:r>
              <a:rPr lang="en-US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Числовое значение в [0, 1). Доля желаемого перекрытия между последовательными фрагментами. 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b="1" dirty="0" err="1">
                <a:solidFill>
                  <a:srgbClr val="33415A"/>
                </a:solidFill>
                <a:latin typeface="Oswald ExtraLight" pitchFamily="2" charset="-52"/>
              </a:rPr>
              <a:t>max_snap_dist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en-GB" dirty="0">
                <a:solidFill>
                  <a:srgbClr val="33415A"/>
                </a:solidFill>
                <a:latin typeface="Oswald ExtraLight" pitchFamily="2" charset="-52"/>
              </a:rPr>
              <a:t>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Максимальное расстояние (в символах), на которое может переместиться точка разреза, чтобы достичь семантической границы. 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b="1" dirty="0" err="1">
                <a:solidFill>
                  <a:srgbClr val="33415A"/>
                </a:solidFill>
                <a:latin typeface="Oswald ExtraLight" pitchFamily="2" charset="-52"/>
              </a:rPr>
              <a:t>segment_by_heading_levels</a:t>
            </a:r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en-GB" dirty="0">
                <a:solidFill>
                  <a:srgbClr val="33415A"/>
                </a:solidFill>
                <a:latin typeface="Oswald ExtraLight" pitchFamily="2" charset="-52"/>
              </a:rPr>
              <a:t>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Целочисленный вектор с возможными значениями 1:6. Заголовки на этих уровнях рассматриваются как границы сегментов; разбиение на фрагменты выполняется независимо для каждого сегмента.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b="1" dirty="0">
                <a:solidFill>
                  <a:srgbClr val="33415A"/>
                </a:solidFill>
                <a:latin typeface="Oswald ExtraLight" pitchFamily="2" charset="-52"/>
              </a:rPr>
              <a:t>context</a:t>
            </a:r>
            <a:r>
              <a:rPr lang="en-GB" dirty="0">
                <a:solidFill>
                  <a:srgbClr val="33415A"/>
                </a:solidFill>
                <a:latin typeface="Oswald ExtraLight" pitchFamily="2" charset="-52"/>
              </a:rPr>
              <a:t> 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Добавить столбец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context, содержащий заголовки Markdown, находящиеся в области видимости, в начале каждого фрагмента кода.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US" b="1" dirty="0">
                <a:solidFill>
                  <a:srgbClr val="33415A"/>
                </a:solidFill>
                <a:latin typeface="Oswald ExtraLight" pitchFamily="2" charset="-52"/>
              </a:rPr>
              <a:t>text</a:t>
            </a:r>
            <a:r>
              <a:rPr lang="en-US" dirty="0">
                <a:solidFill>
                  <a:srgbClr val="33415A"/>
                </a:solidFill>
                <a:latin typeface="Oswald ExtraLight" pitchFamily="2" charset="-52"/>
              </a:rPr>
              <a:t> - </a:t>
            </a:r>
            <a:r>
              <a:rPr lang="ru-RU" dirty="0">
                <a:solidFill>
                  <a:srgbClr val="33415A"/>
                </a:solidFill>
                <a:latin typeface="Oswald ExtraLight" pitchFamily="2" charset="-52"/>
              </a:rPr>
              <a:t>Если значение равно TRUE, включить textстолбец с содержимым фрагмента. </a:t>
            </a:r>
            <a:endParaRPr lang="en-US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endParaRPr lang="en-GB" dirty="0">
              <a:solidFill>
                <a:srgbClr val="33415A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10948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 Хранение эмбедингов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>
            <a:normAutofit/>
          </a:bodyPr>
          <a:lstStyle/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ragnar_store_create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– создание хранилища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ragnar_store_connect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– подключение к хранилищу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ragnar_store_insert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– запись данных в хранилище</a:t>
            </a:r>
            <a:endParaRPr lang="en-US" sz="2800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ragnar_store_build_index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 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–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построение поискового индекса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3015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 Поиск подходящих фрагментов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>
            <a:normAutofit/>
          </a:bodyPr>
          <a:lstStyle/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ragnar_retrieve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-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высокоуровневая функция, которая выполняет как </a:t>
            </a:r>
            <a:r>
              <a:rPr lang="en-GB" sz="2800" dirty="0" err="1">
                <a:solidFill>
                  <a:srgbClr val="33415A"/>
                </a:solidFill>
                <a:latin typeface="Oswald ExtraLight" pitchFamily="2" charset="-52"/>
              </a:rPr>
              <a:t>vss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 так и 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bm25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 поиск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,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так же и устранение совпадений в полученных результатах.</a:t>
            </a:r>
          </a:p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ragnar_retrieve_vss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- Получение данных с помощью </a:t>
            </a:r>
            <a:r>
              <a:rPr lang="en-GB" sz="2800" dirty="0" err="1">
                <a:solidFill>
                  <a:srgbClr val="33415A"/>
                </a:solidFill>
                <a:latin typeface="Oswald ExtraLight" pitchFamily="2" charset="-52"/>
              </a:rPr>
              <a:t>vss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 расширения </a:t>
            </a:r>
            <a:r>
              <a:rPr lang="en-GB" sz="2800" dirty="0" err="1">
                <a:solidFill>
                  <a:srgbClr val="33415A"/>
                </a:solidFill>
                <a:latin typeface="Oswald ExtraLight" pitchFamily="2" charset="-52"/>
              </a:rPr>
              <a:t>DuckDB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 .</a:t>
            </a:r>
          </a:p>
          <a:p>
            <a:pPr lvl="1"/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ragnar_retrieve_bm25()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-</a:t>
            </a:r>
            <a:r>
              <a:rPr lang="en-GB" sz="2800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Получить с помощью полнотекстового поиска </a:t>
            </a:r>
            <a:r>
              <a:rPr lang="en-GB" sz="2800" dirty="0" err="1">
                <a:solidFill>
                  <a:srgbClr val="33415A"/>
                </a:solidFill>
                <a:latin typeface="Oswald ExtraLight" pitchFamily="2" charset="-52"/>
              </a:rPr>
              <a:t>DuckDB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.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chunks_deoverlap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- Объединяет полученные фрагменты, которые перекрываются.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4328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1911-EF32-41EA-B6D2-5046A7D4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153370"/>
            <a:ext cx="11550316" cy="1325563"/>
          </a:xfrm>
          <a:solidFill>
            <a:srgbClr val="33415A"/>
          </a:solidFill>
          <a:ln>
            <a:noFill/>
          </a:ln>
          <a:effectLst>
            <a:softEdge rad="50800"/>
          </a:effectLst>
        </p:spPr>
        <p:txBody>
          <a:bodyPr/>
          <a:lstStyle/>
          <a:p>
            <a:r>
              <a:rPr lang="ru-RU" dirty="0">
                <a:solidFill>
                  <a:srgbClr val="D4D0C8"/>
                </a:solidFill>
                <a:latin typeface="Oswald" pitchFamily="2" charset="-52"/>
              </a:rPr>
              <a:t> Подключаем чат к базе знаний</a:t>
            </a:r>
            <a:endParaRPr lang="ru-UA" dirty="0">
              <a:solidFill>
                <a:srgbClr val="D4D0C8"/>
              </a:solidFill>
              <a:latin typeface="Oswa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3249-6F30-4AAB-B476-4C30FBA5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08" y="1588168"/>
            <a:ext cx="11550316" cy="5116461"/>
          </a:xfrm>
          <a:solidFill>
            <a:srgbClr val="D4D0C8"/>
          </a:solidFill>
          <a:ln>
            <a:noFill/>
          </a:ln>
          <a:effectLst>
            <a:softEdge rad="63500"/>
          </a:effectLst>
        </p:spPr>
        <p:txBody>
          <a:bodyPr>
            <a:normAutofit/>
          </a:bodyPr>
          <a:lstStyle/>
          <a:p>
            <a:pPr lvl="1"/>
            <a:r>
              <a:rPr lang="en-GB" sz="2800" b="1" dirty="0" err="1">
                <a:solidFill>
                  <a:srgbClr val="33415A"/>
                </a:solidFill>
                <a:latin typeface="Oswald ExtraLight" pitchFamily="2" charset="-52"/>
              </a:rPr>
              <a:t>ragnar_register_tool_retrieve</a:t>
            </a:r>
            <a:r>
              <a:rPr lang="en-GB" sz="2800" b="1" dirty="0">
                <a:solidFill>
                  <a:srgbClr val="33415A"/>
                </a:solidFill>
                <a:latin typeface="Oswald ExtraLight" pitchFamily="2" charset="-52"/>
              </a:rPr>
              <a:t>(chat, store)</a:t>
            </a:r>
            <a:r>
              <a:rPr lang="ru-RU" sz="2800" b="1" dirty="0">
                <a:solidFill>
                  <a:srgbClr val="33415A"/>
                </a:solidFill>
                <a:latin typeface="Oswald ExtraLight" pitchFamily="2" charset="-52"/>
              </a:rPr>
              <a:t> </a:t>
            </a:r>
            <a:r>
              <a:rPr lang="ru-RU" sz="2800" dirty="0">
                <a:solidFill>
                  <a:srgbClr val="33415A"/>
                </a:solidFill>
                <a:latin typeface="Oswald ExtraLight" pitchFamily="2" charset="-52"/>
              </a:rPr>
              <a:t>– добавляем модели инструмент поиска по базе знаний</a:t>
            </a:r>
            <a:endParaRPr lang="en-GB" sz="2800" dirty="0">
              <a:solidFill>
                <a:srgbClr val="33415A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95227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DF69CE-0707-4F04-9DE1-43EF6ECF39E3}"/>
              </a:ext>
            </a:extLst>
          </p:cNvPr>
          <p:cNvSpPr txBox="1"/>
          <p:nvPr/>
        </p:nvSpPr>
        <p:spPr>
          <a:xfrm>
            <a:off x="1479884" y="2875002"/>
            <a:ext cx="92322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rgbClr val="D4D0C8"/>
                </a:solidFill>
                <a:latin typeface="Oswald ExtraLight" pitchFamily="2" charset="-52"/>
              </a:rPr>
              <a:t>СПАСИБО ЗА ВНИМАНИЕ</a:t>
            </a:r>
            <a:endParaRPr lang="ru-UA" sz="3200" i="1" dirty="0">
              <a:solidFill>
                <a:srgbClr val="D4D0C8"/>
              </a:solidFill>
              <a:latin typeface="Oswald Extra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190546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450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Oswald</vt:lpstr>
      <vt:lpstr>Oswald ExtraLight</vt:lpstr>
      <vt:lpstr>Тема Office</vt:lpstr>
      <vt:lpstr>PowerPoint Presentation</vt:lpstr>
      <vt:lpstr>Что такое RAG</vt:lpstr>
      <vt:lpstr>Обзор рабочего процесса</vt:lpstr>
      <vt:lpstr>Обзор рабочего процесса</vt:lpstr>
      <vt:lpstr> Обработка документов</vt:lpstr>
      <vt:lpstr> Разделение текста на фрагменты</vt:lpstr>
      <vt:lpstr> Хранение эмбедингов</vt:lpstr>
      <vt:lpstr> Поиск подходящих фрагментов</vt:lpstr>
      <vt:lpstr> Подключаем чат к базе знаний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Селезнев</dc:creator>
  <cp:lastModifiedBy>Алексей Селезнев</cp:lastModifiedBy>
  <cp:revision>15</cp:revision>
  <dcterms:created xsi:type="dcterms:W3CDTF">2020-12-17T17:15:15Z</dcterms:created>
  <dcterms:modified xsi:type="dcterms:W3CDTF">2025-12-17T09:15:57Z</dcterms:modified>
</cp:coreProperties>
</file>